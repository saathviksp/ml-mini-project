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Pulsar Candidate Classification</a:t>
            </a:r>
          </a:p>
          <a:p>
            <a:pPr>
              <a:spcBef>
                <a:spcPts val="1000"/>
              </a:spcBef>
              <a:defRPr sz="2000">
                <a:solidFill>
                  <a:srgbClr val="E2E8F0"/>
                </a:solidFill>
              </a:defRPr>
            </a:pPr>
            <a:r>
              <a:t>UE24CS352A Machine Learning Mini-Project • Teammate 1 (Supervised Half)</a:t>
            </a:r>
          </a:p>
          <a:p>
            <a:pPr>
              <a:spcBef>
                <a:spcPts val="2000"/>
              </a:spcBef>
              <a:defRPr sz="1400">
                <a:solidFill>
                  <a:srgbClr val="DD6B20"/>
                </a:solidFill>
              </a:defRPr>
            </a:pPr>
            <a:r>
              <a:t>GDA Baseline (Scratch) | Random Forest (Scikit-Learn &amp; Scratch) | Fold-Level Upsampling &amp; Threshold Tuning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6B20"/>
                </a:solidFill>
              </a:defRPr>
            </a:pPr>
            <a:r>
              <a:t>SUPERVISED PIPELINE (TEAMMATE 1)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Problem Statement &amp; HTRU2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B6CB0"/>
                </a:solidFill>
              </a:defRPr>
            </a:pPr>
            <a:r>
              <a:t>Astronomical Context &amp; Challenge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Radio pulsar search surveys generate millions of candidate signals.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The vast majority are spurious noise or Radio Frequency Interference (RFI).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HTRU2 Dataset: 17,898 total candidates collected by HTRUS survey.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Severe Class Imbalance: 16,259 non-pulsars (90.84%) vs 1,639 true pulsars (9.16%). Imbalance ratio ~1:9.9.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Goal: Automated binary classification to isolate true pulsars with high recall.</a:t>
            </a:r>
          </a:p>
        </p:txBody>
      </p:sp>
      <p:pic>
        <p:nvPicPr>
          <p:cNvPr id="4" name="Picture 3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6B20"/>
                </a:solidFill>
              </a:defRPr>
            </a:pPr>
            <a:r>
              <a:t>SUPERVISED PIPELINE (TEAMMATE 1)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Supervised Learning Models &amp; Mathematical Formulations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B6CB0"/>
                </a:solidFill>
              </a:defRPr>
            </a:pPr>
            <a:r>
              <a:t>1. Gaussian Discriminant Analysis (GDA Baseline from Scratch)</a:t>
            </a:r>
          </a:p>
          <a:p>
            <a:pPr>
              <a:spcBef>
                <a:spcPts val="400"/>
              </a:spcBef>
              <a:defRPr sz="1300">
                <a:solidFill>
                  <a:srgbClr val="2D3748"/>
                </a:solidFill>
              </a:defRPr>
            </a:pPr>
            <a:r>
              <a:t>  • Generative model assuming class-conditional Gaussian distributions: y ~ Bernoulli(φ), x|y=k ~ N(μ_k, Σ).</a:t>
            </a:r>
          </a:p>
          <a:p>
            <a:pPr>
              <a:spcBef>
                <a:spcPts val="400"/>
              </a:spcBef>
              <a:defRPr sz="1300">
                <a:solidFill>
                  <a:srgbClr val="2D3748"/>
                </a:solidFill>
              </a:defRPr>
            </a:pPr>
            <a:r>
              <a:t>  • Prior: φ = (1/N) Σ 1{y^(i) = 1}</a:t>
            </a:r>
          </a:p>
          <a:p>
            <a:pPr>
              <a:spcBef>
                <a:spcPts val="400"/>
              </a:spcBef>
              <a:defRPr sz="1300">
                <a:solidFill>
                  <a:srgbClr val="2D3748"/>
                </a:solidFill>
              </a:defRPr>
            </a:pPr>
            <a:r>
              <a:t>  • Means: μ_0 = Σ 1{y^(i)=0} x^(i) / Σ 1{y^(i)=0},   μ_1 = Σ 1{y^(i)=1} x^(i) / Σ 1{y^(i)=1}</a:t>
            </a:r>
          </a:p>
          <a:p>
            <a:pPr>
              <a:spcBef>
                <a:spcPts val="400"/>
              </a:spcBef>
              <a:defRPr sz="1300">
                <a:solidFill>
                  <a:srgbClr val="2D3748"/>
                </a:solidFill>
              </a:defRPr>
            </a:pPr>
            <a:r>
              <a:t>  • Shared Covariance: Σ = (1/N) Σ (x^(i) - μ_y^(i))(x^(i) - μ_y^(i))^T</a:t>
            </a:r>
          </a:p>
          <a:p>
            <a:pPr>
              <a:spcBef>
                <a:spcPts val="400"/>
              </a:spcBef>
              <a:defRPr sz="1300">
                <a:solidFill>
                  <a:srgbClr val="2D3748"/>
                </a:solidFill>
              </a:defRPr>
            </a:pPr>
            <a:r>
              <a:t>  • Posterior Probability: P(y=1|x) computed via sigmoid of log-likelihood ratio.</a:t>
            </a:r>
          </a:p>
          <a:p>
            <a:pPr>
              <a:spcBef>
                <a:spcPts val="1400"/>
              </a:spcBef>
              <a:defRPr b="1" sz="1600">
                <a:solidFill>
                  <a:srgbClr val="2B6CB0"/>
                </a:solidFill>
              </a:defRPr>
            </a:pPr>
            <a:r>
              <a:t>2. Random Forest (Scikit-Learn &amp; From Scratch)</a:t>
            </a:r>
          </a:p>
          <a:p>
            <a:pPr>
              <a:spcBef>
                <a:spcPts val="400"/>
              </a:spcBef>
              <a:defRPr sz="1300">
                <a:solidFill>
                  <a:srgbClr val="2D3748"/>
                </a:solidFill>
              </a:defRPr>
            </a:pPr>
            <a:r>
              <a:t>  • Ensemble of uncorrelated decision trees using Bootstrap Sampling and Random Feature Subsets (√p features).</a:t>
            </a:r>
          </a:p>
          <a:p>
            <a:pPr>
              <a:spcBef>
                <a:spcPts val="400"/>
              </a:spcBef>
              <a:defRPr sz="1300">
                <a:solidFill>
                  <a:srgbClr val="2D3748"/>
                </a:solidFill>
              </a:defRPr>
            </a:pPr>
            <a:r>
              <a:t>  • Splits evaluated by maximizing Information Gain: IG = E(parent) - (N_left/N) E(left) - (N_right/N) E(right).</a:t>
            </a:r>
          </a:p>
          <a:p>
            <a:pPr>
              <a:spcBef>
                <a:spcPts val="400"/>
              </a:spcBef>
              <a:defRPr sz="1300">
                <a:solidFill>
                  <a:srgbClr val="2D3748"/>
                </a:solidFill>
              </a:defRPr>
            </a:pPr>
            <a:r>
              <a:t>  • Shannon Entropy: E(S) = - Σ p(x) log_2 p(x).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6B20"/>
                </a:solidFill>
              </a:defRPr>
            </a:pPr>
            <a:r>
              <a:t>SUPERVISED PIPELINE (TEAMMATE 1)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5-Fold CV Protocol with Fold-Level Upsampling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B6CB0"/>
                </a:solidFill>
              </a:defRPr>
            </a:pPr>
            <a:r>
              <a:t>Preventing Data Leakage via Strict Fold Isolation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Data Split: 80% Stratified Training Set (N=14,318) and 20% Held-out Test Set (N=3,580).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Class Imbalance Handling: Random Minority Oversampling (ROS) applied to training folds ONLY.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Crucial Requirement: Validation folds and held-out test set are NEVER upsampled (kept at raw 1:9.9 distribution).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Hyperparameter Search: Scikit-learn Random Forest tuned using RandomizedSearchCV optimizing for Recall.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Tuned Hyperparameters: n_estimators=200, min_samples_split=2, max_features='log2', max_depth=110.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6B20"/>
                </a:solidFill>
              </a:defRPr>
            </a:pPr>
            <a:r>
              <a:t>SUPERVISED PIPELINE (TEAMMATE 1)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Empirical Performance Comparison (Test Set, N=3,580)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ROC AUC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GDA Baseline (Scratch)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97.91%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89.63%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87.76%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98.74%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0.9708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GDA Baseline (Opt Th.)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97.57%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90.85%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83.94%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98.25%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0.9708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RF (Scikit-Learn)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97.88%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88.41%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88.41%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98.83%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0.9678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RF (Scikit-Learn 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96.76%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91.16%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77.46%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97.32%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0.9678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RF From Scratch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97.21%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90.85%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80.98%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97.85%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0.9752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RF From Scratch (Th 0.2)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90.95%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93.29%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50.33%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90.71%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0.9752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6B20"/>
                </a:solidFill>
              </a:defRPr>
            </a:pPr>
            <a:r>
              <a:t>SUPERVISED PIPELINE (TEAMMATE 1)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Threshold Optimization (0.5 → 0.2 to Maximize Recall)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B6CB0"/>
                </a:solidFill>
              </a:defRPr>
            </a:pPr>
            <a:r>
              <a:t>Why Lower Decision Threshold?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Astronomical Tradeoff: Discarding a true pulsar star is far more costly than inspecting a false candidate.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Benchmark Alignment: Debesai et al. lowered threshold from 0.5 to 0.2 to boost recall.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Threshold Sweep Plot: Sensitivity (TPR), 1-Specificity (FPR), and TPR-FPR difference plotted from 0.0 to 1.0.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Result: Moving threshold to ~0.2 raises recall to 91.16% (sklearn RF) and 93.29% (scratch RF).</a:t>
            </a:r>
          </a:p>
        </p:txBody>
      </p:sp>
      <p:pic>
        <p:nvPicPr>
          <p:cNvPr id="4" name="Picture 3" descr="rf_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22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6B20"/>
                </a:solidFill>
              </a:defRPr>
            </a:pPr>
            <a:r>
              <a:t>SUPERVISED PIPELINE (TEAMMATE 1)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ROC and Precision-Recall Diagnostic Curves</a:t>
            </a:r>
          </a:p>
        </p:txBody>
      </p:sp>
      <p:pic>
        <p:nvPicPr>
          <p:cNvPr id="3" name="Picture 2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722914"/>
          </a:xfrm>
          <a:prstGeom prst="rect">
            <a:avLst/>
          </a:prstGeom>
        </p:spPr>
      </p:pic>
      <p:pic>
        <p:nvPicPr>
          <p:cNvPr id="4" name="Picture 3" descr="pr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7229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6B20"/>
                </a:solidFill>
              </a:defRPr>
            </a:pPr>
            <a:r>
              <a:t>SUPERVISED PIPELINE (TEAMMATE 1)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Summary &amp; Handoff to Teammate 2 (Unsupervised)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B6CB0"/>
                </a:solidFill>
              </a:defRPr>
            </a:pPr>
            <a:r>
              <a:t>Key Takeaways (Teammate 1)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Successfully implemented GDA Baseline from scratch matching mathematical formulas.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Tuned Scikit-Learn Random Forest and implemented pure NumPy Random Forest from scratch.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Rigorous 5-fold CV with fold-level upsampling prevented data leakage and produced realistic evaluation.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Threshold sweep demonstrated optimal operational point at ~0.2 threshold maximizing pulsar recall.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Handoff to Teammate 2: Positive candidate subset (N=1,639 pulsars) is structured and ready for PCA, K-means (k=3), and Self-Organizing Map (SOM 5x5 grid) unsupervised clustering.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