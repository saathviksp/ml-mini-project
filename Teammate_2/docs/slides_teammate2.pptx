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194560"/>
            <a:ext cx="10362895" cy="2377440"/>
          </a:xfrm>
          <a:prstGeom prst="rect">
            <a:avLst/>
          </a:prstGeom>
          <a:noFill/>
        </p:spPr>
        <p:txBody>
          <a:bodyPr wrap="square">
            <a:spAutoFit/>
          </a:bodyPr>
          <a:lstStyle/>
          <a:p>
            <a:pPr algn="ctr">
              <a:defRPr sz="3800" b="1">
                <a:solidFill>
                  <a:srgbClr val="1F3864"/>
                </a:solidFill>
              </a:defRPr>
            </a:pPr>
            <a:r>
              <a:t>Unsupervised Categorization of Radio Pulsar Candidates</a:t>
            </a:r>
          </a:p>
          <a:p>
            <a:pPr algn="ctr">
              <a:spcBef>
                <a:spcPts val="1000"/>
              </a:spcBef>
              <a:defRPr sz="1700">
                <a:solidFill>
                  <a:srgbClr val="444444"/>
                </a:solidFill>
              </a:defRPr>
            </a:pPr>
            <a:r>
              <a:t>UE24CS352A Machine Learning, Mini-Project</a:t>
            </a:r>
          </a:p>
          <a:p>
            <a:pPr algn="ctr">
              <a:spcBef>
                <a:spcPts val="1000"/>
              </a:spcBef>
              <a:defRPr sz="1500">
                <a:solidFill>
                  <a:srgbClr val="444444"/>
                </a:solidFill>
              </a:defRPr>
            </a:pPr>
            <a:r>
              <a:t>Teammate 2: PES1UG24CS419</a:t>
            </a:r>
          </a:p>
          <a:p>
            <a:pPr algn="ctr">
              <a:spcBef>
                <a:spcPts val="1000"/>
              </a:spcBef>
              <a:defRPr sz="1300">
                <a:solidFill>
                  <a:srgbClr val="444444"/>
                </a:solidFill>
              </a:defRPr>
            </a:pPr>
            <a:r>
              <a:t>Problem Statement 3  |  HTRU2 dataset  |  1,639 confirmed pulsars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From "is it a pulsar" to "what kind of pulsar"</a:t>
            </a:r>
          </a:p>
          <a:p>
            <a:pPr>
              <a:defRPr sz="1300">
                <a:solidFill>
                  <a:srgbClr val="444444"/>
                </a:solidFill>
              </a:defRPr>
            </a:pPr>
            <a:r>
              <a:t>The supervised half separates signal from noise. This half looks inside the signal.</a:t>
            </a:r>
          </a:p>
        </p:txBody>
      </p:sp>
      <p:sp>
        <p:nvSpPr>
          <p:cNvPr id="3" name="TextBox 2"/>
          <p:cNvSpPr txBox="1"/>
          <p:nvPr/>
        </p:nvSpPr>
        <p:spPr>
          <a:xfrm>
            <a:off x="685800" y="1371600"/>
            <a:ext cx="10820095" cy="4754880"/>
          </a:xfrm>
          <a:prstGeom prst="rect">
            <a:avLst/>
          </a:prstGeom>
          <a:noFill/>
        </p:spPr>
        <p:txBody>
          <a:bodyPr wrap="square">
            <a:spAutoFit/>
          </a:bodyPr>
          <a:lstStyle/>
          <a:p>
            <a:pPr>
              <a:spcAft>
                <a:spcPts val="900"/>
              </a:spcAft>
              <a:defRPr sz="1600">
                <a:solidFill>
                  <a:srgbClr val="000000"/>
                </a:solidFill>
              </a:defRPr>
            </a:pPr>
            <a:r>
              <a:t>Teammate 1 classifies all 17,898 candidates as pulsar or non-pulsar.</a:t>
            </a:r>
          </a:p>
          <a:p>
            <a:pPr>
              <a:spcAft>
                <a:spcPts val="900"/>
              </a:spcAft>
              <a:defRPr sz="1600">
                <a:solidFill>
                  <a:srgbClr val="000000"/>
                </a:solidFill>
              </a:defRPr>
            </a:pPr>
            <a:r>
              <a:t>This half asks a different question: do the confirmed pulsars themselves fall into distinct groups?</a:t>
            </a:r>
          </a:p>
          <a:p>
            <a:pPr lvl="1">
              <a:spcAft>
                <a:spcPts val="900"/>
              </a:spcAft>
              <a:defRPr sz="1400">
                <a:solidFill>
                  <a:srgbClr val="444444"/>
                </a:solidFill>
              </a:defRPr>
            </a:pPr>
            <a:r>
              <a:t>- Fitted on the 1,639 pulsars only. The 16,259 non-pulsars are dropped, since including them would just recover the supervised split.</a:t>
            </a:r>
          </a:p>
          <a:p>
            <a:pPr lvl="1">
              <a:spcAft>
                <a:spcPts val="900"/>
              </a:spcAft>
              <a:defRPr sz="1400">
                <a:solidFill>
                  <a:srgbClr val="444444"/>
                </a:solidFill>
              </a:defRPr>
            </a:pPr>
            <a:r>
              <a:t>- 8 features: mean, standard deviation, excess kurtosis and skewness of the integrated profile and of the DM-SNR curve.</a:t>
            </a:r>
          </a:p>
          <a:p>
            <a:pPr lvl="1">
              <a:spcAft>
                <a:spcPts val="900"/>
              </a:spcAft>
              <a:defRPr sz="1400">
                <a:solidFill>
                  <a:srgbClr val="444444"/>
                </a:solidFill>
              </a:defRPr>
            </a:pPr>
            <a:r>
              <a:t>- All features standardised first, because k-means and the SOM both compare points by Euclidean distance and the raw columns differ by orders of magnitude.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Method</a:t>
            </a:r>
          </a:p>
        </p:txBody>
      </p:sp>
      <p:sp>
        <p:nvSpPr>
          <p:cNvPr id="3" name="TextBox 2"/>
          <p:cNvSpPr txBox="1"/>
          <p:nvPr/>
        </p:nvSpPr>
        <p:spPr>
          <a:xfrm>
            <a:off x="685800" y="1371600"/>
            <a:ext cx="10820095" cy="4754880"/>
          </a:xfrm>
          <a:prstGeom prst="rect">
            <a:avLst/>
          </a:prstGeom>
          <a:noFill/>
        </p:spPr>
        <p:txBody>
          <a:bodyPr wrap="square">
            <a:spAutoFit/>
          </a:bodyPr>
          <a:lstStyle/>
          <a:p>
            <a:pPr>
              <a:spcAft>
                <a:spcPts val="900"/>
              </a:spcAft>
              <a:defRPr sz="1500">
                <a:solidFill>
                  <a:srgbClr val="000000"/>
                </a:solidFill>
              </a:defRPr>
            </a:pPr>
            <a:r>
              <a:t>K-means (scikit-learn), k = 3, ten restarts, swept over k = 2 to 10.</a:t>
            </a:r>
          </a:p>
          <a:p>
            <a:pPr>
              <a:spcAft>
                <a:spcPts val="900"/>
              </a:spcAft>
              <a:defRPr sz="1500">
                <a:solidFill>
                  <a:srgbClr val="000000"/>
                </a:solidFill>
              </a:defRPr>
            </a:pPr>
            <a:r>
              <a:t>Self-Organizing Map, 5x5 grid, written from scratch in NumPy:</a:t>
            </a:r>
          </a:p>
          <a:p>
            <a:pPr lvl="1">
              <a:spcAft>
                <a:spcPts val="900"/>
              </a:spcAft>
              <a:defRPr sz="1300">
                <a:solidFill>
                  <a:srgbClr val="444444"/>
                </a:solidFill>
              </a:defRPr>
            </a:pPr>
            <a:r>
              <a:t>- Competition: find the Best Matching Unit, the node nearest the sample in Euclidean distance.</a:t>
            </a:r>
          </a:p>
          <a:p>
            <a:pPr lvl="1">
              <a:spcAft>
                <a:spcPts val="900"/>
              </a:spcAft>
              <a:defRPr sz="1300">
                <a:solidFill>
                  <a:srgbClr val="444444"/>
                </a:solidFill>
              </a:defRPr>
            </a:pPr>
            <a:r>
              <a:t>- Cooperation: weight every node by a Gaussian centred on the BMU, measured in grid coordinates, not input space. This is what preserves topology.</a:t>
            </a:r>
          </a:p>
          <a:p>
            <a:pPr lvl="1">
              <a:spcAft>
                <a:spcPts val="900"/>
              </a:spcAft>
              <a:defRPr sz="1300">
                <a:solidFill>
                  <a:srgbClr val="444444"/>
                </a:solidFill>
              </a:defRPr>
            </a:pPr>
            <a:r>
              <a:t>- Adaptation: w = w + lr(t) h(t) (x - w), with learning rate and radius both decaying geometrically over 100 epochs.</a:t>
            </a:r>
          </a:p>
          <a:p>
            <a:pPr>
              <a:spcAft>
                <a:spcPts val="900"/>
              </a:spcAft>
              <a:defRPr sz="1500">
                <a:solidFill>
                  <a:srgbClr val="000000"/>
                </a:solidFill>
              </a:defRPr>
            </a:pPr>
            <a:r>
              <a:t>PCA is fitted after clustering, for plotting only.</a:t>
            </a:r>
          </a:p>
          <a:p>
            <a:pPr lvl="1">
              <a:spcAft>
                <a:spcPts val="900"/>
              </a:spcAft>
              <a:defRPr sz="1300">
                <a:solidFill>
                  <a:srgbClr val="444444"/>
                </a:solidFill>
              </a:defRPr>
            </a:pPr>
            <a:r>
              <a:t>- Clustering runs in the full 8-dimensional space. Projecting first would discard variance before the algorithms ever see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Choosing k: the two criteria disagree</a:t>
            </a:r>
          </a:p>
        </p:txBody>
      </p:sp>
      <p:pic>
        <p:nvPicPr>
          <p:cNvPr id="3" name="Picture 2" descr="kmeans_k_selection.png"/>
          <p:cNvPicPr>
            <a:picLocks noChangeAspect="1"/>
          </p:cNvPicPr>
          <p:nvPr/>
        </p:nvPicPr>
        <p:blipFill>
          <a:blip r:embed="rId2"/>
          <a:stretch>
            <a:fillRect/>
          </a:stretch>
        </p:blipFill>
        <p:spPr>
          <a:xfrm>
            <a:off x="1706727" y="1234440"/>
            <a:ext cx="8778240" cy="3192087"/>
          </a:xfrm>
          <a:prstGeom prst="rect">
            <a:avLst/>
          </a:prstGeom>
        </p:spPr>
      </p:pic>
      <p:sp>
        <p:nvSpPr>
          <p:cNvPr id="4" name="TextBox 3"/>
          <p:cNvSpPr txBox="1"/>
          <p:nvPr/>
        </p:nvSpPr>
        <p:spPr>
          <a:xfrm>
            <a:off x="685800" y="4572000"/>
            <a:ext cx="10820095" cy="4754880"/>
          </a:xfrm>
          <a:prstGeom prst="rect">
            <a:avLst/>
          </a:prstGeom>
          <a:noFill/>
        </p:spPr>
        <p:txBody>
          <a:bodyPr wrap="square">
            <a:spAutoFit/>
          </a:bodyPr>
          <a:lstStyle/>
          <a:p>
            <a:pPr>
              <a:spcAft>
                <a:spcPts val="900"/>
              </a:spcAft>
              <a:defRPr sz="1400">
                <a:solidFill>
                  <a:srgbClr val="000000"/>
                </a:solidFill>
              </a:defRPr>
            </a:pPr>
            <a:r>
              <a:t>Inertia elbows at k = 3. Silhouette peaks at k = 2.</a:t>
            </a:r>
          </a:p>
          <a:p>
            <a:pPr lvl="1">
              <a:spcAft>
                <a:spcPts val="900"/>
              </a:spcAft>
              <a:defRPr sz="1200">
                <a:solidFill>
                  <a:srgbClr val="444444"/>
                </a:solidFill>
              </a:defRPr>
            </a:pPr>
            <a:r>
              <a:t>- We keep k = 3: it is at the elbow, it matches the reference paper, and the k = 2 solution merges two groups that differ physically.</a:t>
            </a:r>
          </a:p>
          <a:p>
            <a:pPr lvl="1">
              <a:spcAft>
                <a:spcPts val="900"/>
              </a:spcAft>
              <a:defRPr sz="1200">
                <a:solidFill>
                  <a:srgbClr val="444444"/>
                </a:solidFill>
              </a:defRPr>
            </a:pPr>
            <a:r>
              <a:t>- Inertia measures compactness only; the silhouette also rewards separation, so on continuous data it favours fewer clusters.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Three groups, described by their raw feature means</a:t>
            </a:r>
          </a:p>
        </p:txBody>
      </p:sp>
      <p:graphicFrame>
        <p:nvGraphicFramePr>
          <p:cNvPr id="3" name="Table 2"/>
          <p:cNvGraphicFramePr>
            <a:graphicFrameLocks noGrp="1"/>
          </p:cNvGraphicFramePr>
          <p:nvPr/>
        </p:nvGraphicFramePr>
        <p:xfrm>
          <a:off x="822960" y="1463040"/>
          <a:ext cx="10545775" cy="1737360"/>
        </p:xfrm>
        <a:graphic>
          <a:graphicData uri="http://schemas.openxmlformats.org/drawingml/2006/table">
            <a:tbl>
              <a:tblPr firstRow="1" bandRow="1">
                <a:tableStyleId>{5C22544A-7EE6-4342-B048-85BDC9FD1C3A}</a:tableStyleId>
              </a:tblPr>
              <a:tblGrid>
                <a:gridCol w="1318221"/>
                <a:gridCol w="1318221"/>
                <a:gridCol w="1318221"/>
                <a:gridCol w="1318221"/>
                <a:gridCol w="1318221"/>
                <a:gridCol w="1318221"/>
                <a:gridCol w="1318221"/>
                <a:gridCol w="1318228"/>
              </a:tblGrid>
              <a:tr h="434340">
                <a:tc>
                  <a:txBody>
                    <a:bodyPr/>
                    <a:lstStyle/>
                    <a:p>
                      <a:pPr algn="l">
                        <a:defRPr sz="1400" b="1">
                          <a:solidFill>
                            <a:srgbClr val="FFFFFF"/>
                          </a:solidFill>
                        </a:defRPr>
                      </a:pPr>
                      <a:r>
                        <a:t>Cluster</a:t>
                      </a:r>
                    </a:p>
                  </a:txBody>
                  <a:tcPr>
                    <a:solidFill>
                      <a:srgbClr val="1F3864"/>
                    </a:solidFill>
                  </a:tcPr>
                </a:tc>
                <a:tc>
                  <a:txBody>
                    <a:bodyPr/>
                    <a:lstStyle/>
                    <a:p>
                      <a:pPr algn="ctr">
                        <a:defRPr sz="1400" b="1">
                          <a:solidFill>
                            <a:srgbClr val="FFFFFF"/>
                          </a:solidFill>
                        </a:defRPr>
                      </a:pPr>
                      <a:r>
                        <a:t>n</a:t>
                      </a:r>
                    </a:p>
                  </a:txBody>
                  <a:tcPr>
                    <a:solidFill>
                      <a:srgbClr val="1F3864"/>
                    </a:solidFill>
                  </a:tcPr>
                </a:tc>
                <a:tc>
                  <a:txBody>
                    <a:bodyPr/>
                    <a:lstStyle/>
                    <a:p>
                      <a:pPr algn="ctr">
                        <a:defRPr sz="1400" b="1">
                          <a:solidFill>
                            <a:srgbClr val="FFFFFF"/>
                          </a:solidFill>
                        </a:defRPr>
                      </a:pPr>
                      <a:r>
                        <a:t>mean_ip</a:t>
                      </a:r>
                    </a:p>
                  </a:txBody>
                  <a:tcPr>
                    <a:solidFill>
                      <a:srgbClr val="1F3864"/>
                    </a:solidFill>
                  </a:tcPr>
                </a:tc>
                <a:tc>
                  <a:txBody>
                    <a:bodyPr/>
                    <a:lstStyle/>
                    <a:p>
                      <a:pPr algn="ctr">
                        <a:defRPr sz="1400" b="1">
                          <a:solidFill>
                            <a:srgbClr val="FFFFFF"/>
                          </a:solidFill>
                        </a:defRPr>
                      </a:pPr>
                      <a:r>
                        <a:t>kurt_ip</a:t>
                      </a:r>
                    </a:p>
                  </a:txBody>
                  <a:tcPr>
                    <a:solidFill>
                      <a:srgbClr val="1F3864"/>
                    </a:solidFill>
                  </a:tcPr>
                </a:tc>
                <a:tc>
                  <a:txBody>
                    <a:bodyPr/>
                    <a:lstStyle/>
                    <a:p>
                      <a:pPr algn="ctr">
                        <a:defRPr sz="1400" b="1">
                          <a:solidFill>
                            <a:srgbClr val="FFFFFF"/>
                          </a:solidFill>
                        </a:defRPr>
                      </a:pPr>
                      <a:r>
                        <a:t>skew_ip</a:t>
                      </a:r>
                    </a:p>
                  </a:txBody>
                  <a:tcPr>
                    <a:solidFill>
                      <a:srgbClr val="1F3864"/>
                    </a:solidFill>
                  </a:tcPr>
                </a:tc>
                <a:tc>
                  <a:txBody>
                    <a:bodyPr/>
                    <a:lstStyle/>
                    <a:p>
                      <a:pPr algn="ctr">
                        <a:defRPr sz="1400" b="1">
                          <a:solidFill>
                            <a:srgbClr val="FFFFFF"/>
                          </a:solidFill>
                        </a:defRPr>
                      </a:pPr>
                      <a:r>
                        <a:t>mean_snr</a:t>
                      </a:r>
                    </a:p>
                  </a:txBody>
                  <a:tcPr>
                    <a:solidFill>
                      <a:srgbClr val="1F3864"/>
                    </a:solidFill>
                  </a:tcPr>
                </a:tc>
                <a:tc>
                  <a:txBody>
                    <a:bodyPr/>
                    <a:lstStyle/>
                    <a:p>
                      <a:pPr algn="ctr">
                        <a:defRPr sz="1400" b="1">
                          <a:solidFill>
                            <a:srgbClr val="FFFFFF"/>
                          </a:solidFill>
                        </a:defRPr>
                      </a:pPr>
                      <a:r>
                        <a:t>std_snr</a:t>
                      </a:r>
                    </a:p>
                  </a:txBody>
                  <a:tcPr>
                    <a:solidFill>
                      <a:srgbClr val="1F3864"/>
                    </a:solidFill>
                  </a:tcPr>
                </a:tc>
                <a:tc>
                  <a:txBody>
                    <a:bodyPr/>
                    <a:lstStyle/>
                    <a:p>
                      <a:pPr algn="ctr">
                        <a:defRPr sz="1400" b="1">
                          <a:solidFill>
                            <a:srgbClr val="FFFFFF"/>
                          </a:solidFill>
                        </a:defRPr>
                      </a:pPr>
                      <a:r>
                        <a:t>skew_snr</a:t>
                      </a:r>
                    </a:p>
                  </a:txBody>
                  <a:tcPr>
                    <a:solidFill>
                      <a:srgbClr val="1F3864"/>
                    </a:solidFill>
                  </a:tcPr>
                </a:tc>
              </a:tr>
              <a:tr h="434340">
                <a:tc>
                  <a:txBody>
                    <a:bodyPr/>
                    <a:lstStyle/>
                    <a:p>
                      <a:pPr algn="l">
                        <a:defRPr sz="1400"/>
                      </a:pPr>
                      <a:r>
                        <a:t>0</a:t>
                      </a:r>
                    </a:p>
                  </a:txBody>
                  <a:tcPr/>
                </a:tc>
                <a:tc>
                  <a:txBody>
                    <a:bodyPr/>
                    <a:lstStyle/>
                    <a:p>
                      <a:pPr algn="ctr">
                        <a:defRPr sz="1400"/>
                      </a:pPr>
                      <a:r>
                        <a:t>739</a:t>
                      </a:r>
                    </a:p>
                  </a:txBody>
                  <a:tcPr/>
                </a:tc>
                <a:tc>
                  <a:txBody>
                    <a:bodyPr/>
                    <a:lstStyle/>
                    <a:p>
                      <a:pPr algn="ctr">
                        <a:defRPr sz="1400"/>
                      </a:pPr>
                      <a:r>
                        <a:t>71.57</a:t>
                      </a:r>
                    </a:p>
                  </a:txBody>
                  <a:tcPr/>
                </a:tc>
                <a:tc>
                  <a:txBody>
                    <a:bodyPr/>
                    <a:lstStyle/>
                    <a:p>
                      <a:pPr algn="ctr">
                        <a:defRPr sz="1400"/>
                      </a:pPr>
                      <a:r>
                        <a:t>2.04</a:t>
                      </a:r>
                    </a:p>
                  </a:txBody>
                  <a:tcPr/>
                </a:tc>
                <a:tc>
                  <a:txBody>
                    <a:bodyPr/>
                    <a:lstStyle/>
                    <a:p>
                      <a:pPr algn="ctr">
                        <a:defRPr sz="1400"/>
                      </a:pPr>
                      <a:r>
                        <a:t>6.82</a:t>
                      </a:r>
                    </a:p>
                  </a:txBody>
                  <a:tcPr/>
                </a:tc>
                <a:tc>
                  <a:txBody>
                    <a:bodyPr/>
                    <a:lstStyle/>
                    <a:p>
                      <a:pPr algn="ctr">
                        <a:defRPr sz="1400"/>
                      </a:pPr>
                      <a:r>
                        <a:t>38.65</a:t>
                      </a:r>
                    </a:p>
                  </a:txBody>
                  <a:tcPr/>
                </a:tc>
                <a:tc>
                  <a:txBody>
                    <a:bodyPr/>
                    <a:lstStyle/>
                    <a:p>
                      <a:pPr algn="ctr">
                        <a:defRPr sz="1400"/>
                      </a:pPr>
                      <a:r>
                        <a:t>57.91</a:t>
                      </a:r>
                    </a:p>
                  </a:txBody>
                  <a:tcPr/>
                </a:tc>
                <a:tc>
                  <a:txBody>
                    <a:bodyPr/>
                    <a:lstStyle/>
                    <a:p>
                      <a:pPr algn="ctr">
                        <a:defRPr sz="1400"/>
                      </a:pPr>
                      <a:r>
                        <a:t>8.04</a:t>
                      </a:r>
                    </a:p>
                  </a:txBody>
                  <a:tcPr/>
                </a:tc>
              </a:tr>
              <a:tr h="434340">
                <a:tc>
                  <a:txBody>
                    <a:bodyPr/>
                    <a:lstStyle/>
                    <a:p>
                      <a:pPr algn="l">
                        <a:defRPr sz="1400"/>
                      </a:pPr>
                      <a:r>
                        <a:t>1</a:t>
                      </a:r>
                    </a:p>
                  </a:txBody>
                  <a:tcPr/>
                </a:tc>
                <a:tc>
                  <a:txBody>
                    <a:bodyPr/>
                    <a:lstStyle/>
                    <a:p>
                      <a:pPr algn="ctr">
                        <a:defRPr sz="1400"/>
                      </a:pPr>
                      <a:r>
                        <a:t>679</a:t>
                      </a:r>
                    </a:p>
                  </a:txBody>
                  <a:tcPr/>
                </a:tc>
                <a:tc>
                  <a:txBody>
                    <a:bodyPr/>
                    <a:lstStyle/>
                    <a:p>
                      <a:pPr algn="ctr">
                        <a:defRPr sz="1400"/>
                      </a:pPr>
                      <a:r>
                        <a:t>28.62</a:t>
                      </a:r>
                    </a:p>
                  </a:txBody>
                  <a:tcPr/>
                </a:tc>
                <a:tc>
                  <a:txBody>
                    <a:bodyPr/>
                    <a:lstStyle/>
                    <a:p>
                      <a:pPr algn="ctr">
                        <a:defRPr sz="1400"/>
                      </a:pPr>
                      <a:r>
                        <a:t>5.01</a:t>
                      </a:r>
                    </a:p>
                  </a:txBody>
                  <a:tcPr/>
                </a:tc>
                <a:tc>
                  <a:txBody>
                    <a:bodyPr/>
                    <a:lstStyle/>
                    <a:p>
                      <a:pPr algn="ctr">
                        <a:defRPr sz="1400"/>
                      </a:pPr>
                      <a:r>
                        <a:t>29.19</a:t>
                      </a:r>
                    </a:p>
                  </a:txBody>
                  <a:tcPr/>
                </a:tc>
                <a:tc>
                  <a:txBody>
                    <a:bodyPr/>
                    <a:lstStyle/>
                    <a:p>
                      <a:pPr algn="ctr">
                        <a:defRPr sz="1400"/>
                      </a:pPr>
                      <a:r>
                        <a:t>77.09</a:t>
                      </a:r>
                    </a:p>
                  </a:txBody>
                  <a:tcPr/>
                </a:tc>
                <a:tc>
                  <a:txBody>
                    <a:bodyPr/>
                    <a:lstStyle/>
                    <a:p>
                      <a:pPr algn="ctr">
                        <a:defRPr sz="1400"/>
                      </a:pPr>
                      <a:r>
                        <a:t>66.12</a:t>
                      </a:r>
                    </a:p>
                  </a:txBody>
                  <a:tcPr/>
                </a:tc>
                <a:tc>
                  <a:txBody>
                    <a:bodyPr/>
                    <a:lstStyle/>
                    <a:p>
                      <a:pPr algn="ctr">
                        <a:defRPr sz="1400"/>
                      </a:pPr>
                      <a:r>
                        <a:t>1.52</a:t>
                      </a:r>
                    </a:p>
                  </a:txBody>
                  <a:tcPr/>
                </a:tc>
              </a:tr>
              <a:tr h="434340">
                <a:tc>
                  <a:txBody>
                    <a:bodyPr/>
                    <a:lstStyle/>
                    <a:p>
                      <a:pPr algn="l">
                        <a:defRPr sz="1400"/>
                      </a:pPr>
                      <a:r>
                        <a:t>2</a:t>
                      </a:r>
                    </a:p>
                  </a:txBody>
                  <a:tcPr/>
                </a:tc>
                <a:tc>
                  <a:txBody>
                    <a:bodyPr/>
                    <a:lstStyle/>
                    <a:p>
                      <a:pPr algn="ctr">
                        <a:defRPr sz="1400"/>
                      </a:pPr>
                      <a:r>
                        <a:t>221</a:t>
                      </a:r>
                    </a:p>
                  </a:txBody>
                  <a:tcPr/>
                </a:tc>
                <a:tc>
                  <a:txBody>
                    <a:bodyPr/>
                    <a:lstStyle/>
                    <a:p>
                      <a:pPr algn="ctr">
                        <a:defRPr sz="1400"/>
                      </a:pPr>
                      <a:r>
                        <a:t>93.18</a:t>
                      </a:r>
                    </a:p>
                  </a:txBody>
                  <a:tcPr/>
                </a:tc>
                <a:tc>
                  <a:txBody>
                    <a:bodyPr/>
                    <a:lstStyle/>
                    <a:p>
                      <a:pPr algn="ctr">
                        <a:defRPr sz="1400"/>
                      </a:pPr>
                      <a:r>
                        <a:t>1.01</a:t>
                      </a:r>
                    </a:p>
                  </a:txBody>
                  <a:tcPr/>
                </a:tc>
                <a:tc>
                  <a:txBody>
                    <a:bodyPr/>
                    <a:lstStyle/>
                    <a:p>
                      <a:pPr algn="ctr">
                        <a:defRPr sz="1400"/>
                      </a:pPr>
                      <a:r>
                        <a:t>2.87</a:t>
                      </a:r>
                    </a:p>
                  </a:txBody>
                  <a:tcPr/>
                </a:tc>
                <a:tc>
                  <a:txBody>
                    <a:bodyPr/>
                    <a:lstStyle/>
                    <a:p>
                      <a:pPr algn="ctr">
                        <a:defRPr sz="1400"/>
                      </a:pPr>
                      <a:r>
                        <a:t>3.44</a:t>
                      </a:r>
                    </a:p>
                  </a:txBody>
                  <a:tcPr/>
                </a:tc>
                <a:tc>
                  <a:txBody>
                    <a:bodyPr/>
                    <a:lstStyle/>
                    <a:p>
                      <a:pPr algn="ctr">
                        <a:defRPr sz="1400"/>
                      </a:pPr>
                      <a:r>
                        <a:t>21.99</a:t>
                      </a:r>
                    </a:p>
                  </a:txBody>
                  <a:tcPr/>
                </a:tc>
                <a:tc>
                  <a:txBody>
                    <a:bodyPr/>
                    <a:lstStyle/>
                    <a:p>
                      <a:pPr algn="ctr">
                        <a:defRPr sz="1400"/>
                      </a:pPr>
                      <a:r>
                        <a:t>101.43</a:t>
                      </a:r>
                    </a:p>
                  </a:txBody>
                  <a:tcPr/>
                </a:tc>
              </a:tr>
            </a:tbl>
          </a:graphicData>
        </a:graphic>
      </p:graphicFrame>
      <p:sp>
        <p:nvSpPr>
          <p:cNvPr id="4" name="TextBox 3"/>
          <p:cNvSpPr txBox="1"/>
          <p:nvPr/>
        </p:nvSpPr>
        <p:spPr>
          <a:xfrm>
            <a:off x="685800" y="3657600"/>
            <a:ext cx="10820095" cy="4754880"/>
          </a:xfrm>
          <a:prstGeom prst="rect">
            <a:avLst/>
          </a:prstGeom>
          <a:noFill/>
        </p:spPr>
        <p:txBody>
          <a:bodyPr wrap="square">
            <a:spAutoFit/>
          </a:bodyPr>
          <a:lstStyle/>
          <a:p>
            <a:pPr>
              <a:spcAft>
                <a:spcPts val="900"/>
              </a:spcAft>
              <a:defRPr sz="1500">
                <a:solidFill>
                  <a:srgbClr val="000000"/>
                </a:solidFill>
              </a:defRPr>
            </a:pPr>
            <a:r>
              <a:t>Cluster 0 (739): the typical population, mid-range profile with a moderately dispersed DM-SNR curve.</a:t>
            </a:r>
          </a:p>
          <a:p>
            <a:pPr>
              <a:spcAft>
                <a:spcPts val="900"/>
              </a:spcAft>
              <a:defRPr sz="1500">
                <a:solidFill>
                  <a:srgbClr val="000000"/>
                </a:solidFill>
              </a:defRPr>
            </a:pPr>
            <a:r>
              <a:t>Cluster 1 (679): low profile mean, strong profile skew, highest DM-SNR mean. Bright and sharply peaked.</a:t>
            </a:r>
          </a:p>
          <a:p>
            <a:pPr>
              <a:spcAft>
                <a:spcPts val="900"/>
              </a:spcAft>
              <a:defRPr sz="1500">
                <a:solidFill>
                  <a:srgbClr val="000000"/>
                </a:solidFill>
              </a:defRPr>
            </a:pPr>
            <a:r>
              <a:t>Cluster 2 (221): high profile mean, very weak DM-SNR curve, extreme DM-SNR skew. Small and distinctive.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The SOM trained cleanly</a:t>
            </a:r>
          </a:p>
        </p:txBody>
      </p:sp>
      <p:pic>
        <p:nvPicPr>
          <p:cNvPr id="3" name="Picture 2" descr="som_diagnostics.png"/>
          <p:cNvPicPr>
            <a:picLocks noChangeAspect="1"/>
          </p:cNvPicPr>
          <p:nvPr/>
        </p:nvPicPr>
        <p:blipFill>
          <a:blip r:embed="rId2"/>
          <a:stretch>
            <a:fillRect/>
          </a:stretch>
        </p:blipFill>
        <p:spPr>
          <a:xfrm>
            <a:off x="544133" y="1371600"/>
            <a:ext cx="11103428" cy="3108960"/>
          </a:xfrm>
          <a:prstGeom prst="rect">
            <a:avLst/>
          </a:prstGeom>
        </p:spPr>
      </p:pic>
      <p:sp>
        <p:nvSpPr>
          <p:cNvPr id="4" name="TextBox 3"/>
          <p:cNvSpPr txBox="1"/>
          <p:nvPr/>
        </p:nvSpPr>
        <p:spPr>
          <a:xfrm>
            <a:off x="685800" y="4663440"/>
            <a:ext cx="10820095" cy="4754880"/>
          </a:xfrm>
          <a:prstGeom prst="rect">
            <a:avLst/>
          </a:prstGeom>
          <a:noFill/>
        </p:spPr>
        <p:txBody>
          <a:bodyPr wrap="square">
            <a:spAutoFit/>
          </a:bodyPr>
          <a:lstStyle/>
          <a:p>
            <a:pPr>
              <a:spcAft>
                <a:spcPts val="900"/>
              </a:spcAft>
              <a:defRPr sz="1400">
                <a:solidFill>
                  <a:srgbClr val="000000"/>
                </a:solidFill>
              </a:defRPr>
            </a:pPr>
            <a:r>
              <a:t>Quantization error fell from 2.028 to 0.861 over 100 epochs, and flattened.</a:t>
            </a:r>
          </a:p>
          <a:p>
            <a:pPr>
              <a:spcAft>
                <a:spcPts val="900"/>
              </a:spcAft>
              <a:defRPr sz="1400">
                <a:solidFill>
                  <a:srgbClr val="000000"/>
                </a:solidFill>
              </a:defRPr>
            </a:pPr>
            <a:r>
              <a:t>All 25 of 25 nodes occupied, so no dead units and the grid is not oversized.</a:t>
            </a:r>
          </a:p>
          <a:p>
            <a:pPr>
              <a:spcAft>
                <a:spcPts val="900"/>
              </a:spcAft>
              <a:defRPr sz="1400">
                <a:solidFill>
                  <a:srgbClr val="000000"/>
                </a:solidFill>
              </a:defRPr>
            </a:pPr>
            <a:r>
              <a:t>The U-matrix ridge in one corner is where cluster 2 separates.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Two different algorithms, the same three groups</a:t>
            </a:r>
          </a:p>
        </p:txBody>
      </p:sp>
      <p:pic>
        <p:nvPicPr>
          <p:cNvPr id="3" name="Picture 2" descr="cluster_scatter_pca.png"/>
          <p:cNvPicPr>
            <a:picLocks noChangeAspect="1"/>
          </p:cNvPicPr>
          <p:nvPr/>
        </p:nvPicPr>
        <p:blipFill>
          <a:blip r:embed="rId2"/>
          <a:stretch>
            <a:fillRect/>
          </a:stretch>
        </p:blipFill>
        <p:spPr>
          <a:xfrm>
            <a:off x="2378613" y="1234440"/>
            <a:ext cx="7434469" cy="3108960"/>
          </a:xfrm>
          <a:prstGeom prst="rect">
            <a:avLst/>
          </a:prstGeom>
        </p:spPr>
      </p:pic>
      <p:graphicFrame>
        <p:nvGraphicFramePr>
          <p:cNvPr id="4" name="Table 3"/>
          <p:cNvGraphicFramePr>
            <a:graphicFrameLocks noGrp="1"/>
          </p:cNvGraphicFramePr>
          <p:nvPr/>
        </p:nvGraphicFramePr>
        <p:xfrm>
          <a:off x="1463040" y="4572000"/>
          <a:ext cx="9235440" cy="1371600"/>
        </p:xfrm>
        <a:graphic>
          <a:graphicData uri="http://schemas.openxmlformats.org/drawingml/2006/table">
            <a:tbl>
              <a:tblPr firstRow="1" bandRow="1">
                <a:tableStyleId>{5C22544A-7EE6-4342-B048-85BDC9FD1C3A}</a:tableStyleId>
              </a:tblPr>
              <a:tblGrid>
                <a:gridCol w="3078480"/>
                <a:gridCol w="3078480"/>
                <a:gridCol w="3078480"/>
              </a:tblGrid>
              <a:tr h="342900">
                <a:tc>
                  <a:txBody>
                    <a:bodyPr/>
                    <a:lstStyle/>
                    <a:p>
                      <a:pPr algn="l">
                        <a:defRPr sz="1300" b="1">
                          <a:solidFill>
                            <a:srgbClr val="FFFFFF"/>
                          </a:solidFill>
                        </a:defRPr>
                      </a:pPr>
                      <a:r>
                        <a:t>Method</a:t>
                      </a:r>
                    </a:p>
                  </a:txBody>
                  <a:tcPr>
                    <a:solidFill>
                      <a:srgbClr val="1F3864"/>
                    </a:solidFill>
                  </a:tcPr>
                </a:tc>
                <a:tc>
                  <a:txBody>
                    <a:bodyPr/>
                    <a:lstStyle/>
                    <a:p>
                      <a:pPr algn="ctr">
                        <a:defRPr sz="1300" b="1">
                          <a:solidFill>
                            <a:srgbClr val="FFFFFF"/>
                          </a:solidFill>
                        </a:defRPr>
                      </a:pPr>
                      <a:r>
                        <a:t>Clusters</a:t>
                      </a:r>
                    </a:p>
                  </a:txBody>
                  <a:tcPr>
                    <a:solidFill>
                      <a:srgbClr val="1F3864"/>
                    </a:solidFill>
                  </a:tcPr>
                </a:tc>
                <a:tc>
                  <a:txBody>
                    <a:bodyPr/>
                    <a:lstStyle/>
                    <a:p>
                      <a:pPr algn="ctr">
                        <a:defRPr sz="1300" b="1">
                          <a:solidFill>
                            <a:srgbClr val="FFFFFF"/>
                          </a:solidFill>
                        </a:defRPr>
                      </a:pPr>
                      <a:r>
                        <a:t>Silhouette</a:t>
                      </a:r>
                    </a:p>
                  </a:txBody>
                  <a:tcPr>
                    <a:solidFill>
                      <a:srgbClr val="1F3864"/>
                    </a:solidFill>
                  </a:tcPr>
                </a:tc>
              </a:tr>
              <a:tr h="342900">
                <a:tc>
                  <a:txBody>
                    <a:bodyPr/>
                    <a:lstStyle/>
                    <a:p>
                      <a:pPr algn="l">
                        <a:defRPr sz="1300"/>
                      </a:pPr>
                      <a:r>
                        <a:t>K-means</a:t>
                      </a:r>
                    </a:p>
                  </a:txBody>
                  <a:tcPr/>
                </a:tc>
                <a:tc>
                  <a:txBody>
                    <a:bodyPr/>
                    <a:lstStyle/>
                    <a:p>
                      <a:pPr algn="ctr">
                        <a:defRPr sz="1300"/>
                      </a:pPr>
                      <a:r>
                        <a:t>3</a:t>
                      </a:r>
                    </a:p>
                  </a:txBody>
                  <a:tcPr/>
                </a:tc>
                <a:tc>
                  <a:txBody>
                    <a:bodyPr/>
                    <a:lstStyle/>
                    <a:p>
                      <a:pPr algn="ctr">
                        <a:defRPr sz="1300"/>
                      </a:pPr>
                      <a:r>
                        <a:t>0.3348</a:t>
                      </a:r>
                    </a:p>
                  </a:txBody>
                  <a:tcPr/>
                </a:tc>
              </a:tr>
              <a:tr h="342900">
                <a:tc>
                  <a:txBody>
                    <a:bodyPr/>
                    <a:lstStyle/>
                    <a:p>
                      <a:pPr algn="l">
                        <a:defRPr sz="1300"/>
                      </a:pPr>
                      <a:r>
                        <a:t>SOM 5x5, codebook grouped into 3</a:t>
                      </a:r>
                    </a:p>
                  </a:txBody>
                  <a:tcPr/>
                </a:tc>
                <a:tc>
                  <a:txBody>
                    <a:bodyPr/>
                    <a:lstStyle/>
                    <a:p>
                      <a:pPr algn="ctr">
                        <a:defRPr sz="1300"/>
                      </a:pPr>
                      <a:r>
                        <a:t>3</a:t>
                      </a:r>
                    </a:p>
                  </a:txBody>
                  <a:tcPr/>
                </a:tc>
                <a:tc>
                  <a:txBody>
                    <a:bodyPr/>
                    <a:lstStyle/>
                    <a:p>
                      <a:pPr algn="ctr">
                        <a:defRPr sz="1300"/>
                      </a:pPr>
                      <a:r>
                        <a:t>0.3316</a:t>
                      </a:r>
                    </a:p>
                  </a:txBody>
                  <a:tcPr/>
                </a:tc>
              </a:tr>
              <a:tr h="342900">
                <a:tc>
                  <a:txBody>
                    <a:bodyPr/>
                    <a:lstStyle/>
                    <a:p>
                      <a:pPr algn="l">
                        <a:defRPr sz="1300"/>
                      </a:pPr>
                      <a:r>
                        <a:t>SOM raw BMU assignment</a:t>
                      </a:r>
                    </a:p>
                  </a:txBody>
                  <a:tcPr/>
                </a:tc>
                <a:tc>
                  <a:txBody>
                    <a:bodyPr/>
                    <a:lstStyle/>
                    <a:p>
                      <a:pPr algn="ctr">
                        <a:defRPr sz="1300"/>
                      </a:pPr>
                      <a:r>
                        <a:t>25</a:t>
                      </a:r>
                    </a:p>
                  </a:txBody>
                  <a:tcPr/>
                </a:tc>
                <a:tc>
                  <a:txBody>
                    <a:bodyPr/>
                    <a:lstStyle/>
                    <a:p>
                      <a:pPr algn="ctr">
                        <a:defRPr sz="1300"/>
                      </a:pPr>
                      <a:r>
                        <a:t>0.1715</a:t>
                      </a:r>
                    </a:p>
                  </a:txBody>
                  <a:tcPr/>
                </a:tc>
              </a:tr>
            </a:tbl>
          </a:graphicData>
        </a:graphic>
      </p:graphicFrame>
      <p:sp>
        <p:nvSpPr>
          <p:cNvPr id="5" name="TextBox 4"/>
          <p:cNvSpPr txBox="1"/>
          <p:nvPr/>
        </p:nvSpPr>
        <p:spPr>
          <a:xfrm>
            <a:off x="685800" y="6080760"/>
            <a:ext cx="10820095" cy="4754880"/>
          </a:xfrm>
          <a:prstGeom prst="rect">
            <a:avLst/>
          </a:prstGeom>
          <a:noFill/>
        </p:spPr>
        <p:txBody>
          <a:bodyPr wrap="square">
            <a:spAutoFit/>
          </a:bodyPr>
          <a:lstStyle/>
          <a:p>
            <a:pPr>
              <a:spcAft>
                <a:spcPts val="900"/>
              </a:spcAft>
              <a:defRPr sz="1300">
                <a:solidFill>
                  <a:srgbClr val="000000"/>
                </a:solidFill>
              </a:defRPr>
            </a:pPr>
            <a:r>
              <a:t>The two methods agree on the group for 93.3% of candidates. Independent methods converging is the real evidence the structure is in the data, not the algorithm.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Two details worth being precise about</a:t>
            </a:r>
          </a:p>
        </p:txBody>
      </p:sp>
      <p:sp>
        <p:nvSpPr>
          <p:cNvPr id="3" name="TextBox 2"/>
          <p:cNvSpPr txBox="1"/>
          <p:nvPr/>
        </p:nvSpPr>
        <p:spPr>
          <a:xfrm>
            <a:off x="685800" y="1371600"/>
            <a:ext cx="10820095" cy="4754880"/>
          </a:xfrm>
          <a:prstGeom prst="rect">
            <a:avLst/>
          </a:prstGeom>
          <a:noFill/>
        </p:spPr>
        <p:txBody>
          <a:bodyPr wrap="square">
            <a:spAutoFit/>
          </a:bodyPr>
          <a:lstStyle/>
          <a:p>
            <a:pPr>
              <a:spcAft>
                <a:spcPts val="900"/>
              </a:spcAft>
              <a:defRPr sz="1500">
                <a:solidFill>
                  <a:srgbClr val="000000"/>
                </a:solidFill>
              </a:defRPr>
            </a:pPr>
            <a:r>
              <a:t>Comparing a 5x5 SOM with k-means at k = 3:</a:t>
            </a:r>
          </a:p>
          <a:p>
            <a:pPr lvl="1">
              <a:spcAft>
                <a:spcPts val="900"/>
              </a:spcAft>
              <a:defRPr sz="1300">
                <a:solidFill>
                  <a:srgbClr val="444444"/>
                </a:solidFill>
              </a:defRPr>
            </a:pPr>
            <a:r>
              <a:t>- The map produces 25 micro-clusters, which is not comparable with 3. Following Vesanto and Alhoniemi (2000), the 25 codebook vectors are clustered into 3 groups and each candidate inherits the group of its BMU. Clustering 25 vectors is far cheaper than re-clustering 1,639 samples.</a:t>
            </a:r>
          </a:p>
          <a:p>
            <a:pPr>
              <a:spcAft>
                <a:spcPts val="900"/>
              </a:spcAft>
              <a:defRPr sz="1500">
                <a:solidFill>
                  <a:srgbClr val="000000"/>
                </a:solidFill>
              </a:defRPr>
            </a:pPr>
            <a:r>
              <a:t>Why the raw 25-node silhouette (0.171) looks bad:</a:t>
            </a:r>
          </a:p>
          <a:p>
            <a:pPr lvl="1">
              <a:spcAft>
                <a:spcPts val="900"/>
              </a:spcAft>
              <a:defRPr sz="1300">
                <a:solidFill>
                  <a:srgbClr val="444444"/>
                </a:solidFill>
              </a:defRPr>
            </a:pPr>
            <a:r>
              <a:t>- It is low by construction, not because the map failed. With 25 clusters over 1,639 points, neighbouring nodes overlap heavily, and overlap is exactly what the silhouette penalises.</a:t>
            </a:r>
          </a:p>
          <a:p>
            <a:pPr>
              <a:spcAft>
                <a:spcPts val="900"/>
              </a:spcAft>
              <a:defRPr sz="1500">
                <a:solidFill>
                  <a:srgbClr val="000000"/>
                </a:solidFill>
              </a:defRPr>
            </a:pPr>
            <a:r>
              <a:t>PCA retains 82.0% of variance in two components (PC1 58.8%, PC2 23.2%).</a:t>
            </a:r>
          </a:p>
          <a:p>
            <a:pPr lvl="1">
              <a:spcAft>
                <a:spcPts val="900"/>
              </a:spcAft>
              <a:defRPr sz="1300">
                <a:solidFill>
                  <a:srgbClr val="444444"/>
                </a:solidFill>
              </a:defRPr>
            </a:pPr>
            <a:r>
              <a:t>- PC1 sets profile shape (kurtosis +0.89, skewness +0.84) against profile mean (-0.87): a "narrow, peaked profile" axis. PC2 is dispersion.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Demo: Pulsar Candidate Explorer</a:t>
            </a:r>
          </a:p>
          <a:p>
            <a:pPr>
              <a:defRPr sz="1300">
                <a:solidFill>
                  <a:srgbClr val="444444"/>
                </a:solidFill>
              </a:defRPr>
            </a:pPr>
            <a:r>
              <a:t>streamlit run app/demo_app.py</a:t>
            </a:r>
          </a:p>
        </p:txBody>
      </p:sp>
      <p:sp>
        <p:nvSpPr>
          <p:cNvPr id="3" name="TextBox 2"/>
          <p:cNvSpPr txBox="1"/>
          <p:nvPr/>
        </p:nvSpPr>
        <p:spPr>
          <a:xfrm>
            <a:off x="685800" y="1371600"/>
            <a:ext cx="10820095" cy="4754880"/>
          </a:xfrm>
          <a:prstGeom prst="rect">
            <a:avLst/>
          </a:prstGeom>
          <a:noFill/>
        </p:spPr>
        <p:txBody>
          <a:bodyPr wrap="square">
            <a:spAutoFit/>
          </a:bodyPr>
          <a:lstStyle/>
          <a:p>
            <a:pPr>
              <a:spcAft>
                <a:spcPts val="900"/>
              </a:spcAft>
              <a:defRPr sz="1600">
                <a:solidFill>
                  <a:srgbClr val="000000"/>
                </a:solidFill>
              </a:defRPr>
            </a:pPr>
            <a:r>
              <a:t>Enter the eight measurements for one candidate, or start from a preset, and the app returns:</a:t>
            </a:r>
          </a:p>
          <a:p>
            <a:pPr lvl="1">
              <a:spcAft>
                <a:spcPts val="900"/>
              </a:spcAft>
              <a:defRPr sz="1400">
                <a:solidFill>
                  <a:srgbClr val="444444"/>
                </a:solidFill>
              </a:defRPr>
            </a:pPr>
            <a:r>
              <a:t>- A pulsar verdict with its probability, from Teammate 1's GDA model. Reusing it rather than reimplementing keeps the two halves consistent.</a:t>
            </a:r>
          </a:p>
          <a:p>
            <a:pPr lvl="1">
              <a:spcAft>
                <a:spcPts val="900"/>
              </a:spcAft>
              <a:defRPr sz="1400">
                <a:solidFill>
                  <a:srgbClr val="444444"/>
                </a:solidFill>
              </a:defRPr>
            </a:pPr>
            <a:r>
              <a:t>- The k-means cluster and the SOM cluster, plus the Best Matching Unit coordinates on the 5x5 grid.</a:t>
            </a:r>
          </a:p>
          <a:p>
            <a:pPr lvl="1">
              <a:spcAft>
                <a:spcPts val="900"/>
              </a:spcAft>
              <a:defRPr sz="1400">
                <a:solidFill>
                  <a:srgbClr val="444444"/>
                </a:solidFill>
              </a:defRPr>
            </a:pPr>
            <a:r>
              <a:t>- A flag when the two methods disagree, which usually means the candidate sits near a cluster boundary.</a:t>
            </a:r>
          </a:p>
          <a:p>
            <a:pPr lvl="1">
              <a:spcAft>
                <a:spcPts val="900"/>
              </a:spcAft>
              <a:defRPr sz="1400">
                <a:solidFill>
                  <a:srgbClr val="444444"/>
                </a:solidFill>
              </a:defRPr>
            </a:pPr>
            <a:r>
              <a:t>- A PCA scatter plot marking where the candidate falls among the 1,639 known pulsars.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spAutoFit/>
          </a:bodyPr>
          <a:lstStyle/>
          <a:p>
            <a:pPr>
              <a:defRPr sz="3000" b="1">
                <a:solidFill>
                  <a:srgbClr val="1F3864"/>
                </a:solidFill>
              </a:defRPr>
            </a:pPr>
            <a:r>
              <a:t>Conclusions and limitations</a:t>
            </a:r>
          </a:p>
        </p:txBody>
      </p:sp>
      <p:sp>
        <p:nvSpPr>
          <p:cNvPr id="3" name="TextBox 2"/>
          <p:cNvSpPr txBox="1"/>
          <p:nvPr/>
        </p:nvSpPr>
        <p:spPr>
          <a:xfrm>
            <a:off x="685800" y="1371600"/>
            <a:ext cx="10820095" cy="4754880"/>
          </a:xfrm>
          <a:prstGeom prst="rect">
            <a:avLst/>
          </a:prstGeom>
          <a:noFill/>
        </p:spPr>
        <p:txBody>
          <a:bodyPr wrap="square">
            <a:spAutoFit/>
          </a:bodyPr>
          <a:lstStyle/>
          <a:p>
            <a:pPr>
              <a:spcAft>
                <a:spcPts val="900"/>
              </a:spcAft>
              <a:defRPr sz="1500">
                <a:solidFill>
                  <a:srgbClr val="000000"/>
                </a:solidFill>
              </a:defRPr>
            </a:pPr>
            <a:r>
              <a:t>The pulsar population carries real internal structure: three groups of 739, 679 and 221, recovered independently by two algorithms.</a:t>
            </a:r>
          </a:p>
          <a:p>
            <a:pPr>
              <a:spcAft>
                <a:spcPts val="900"/>
              </a:spcAft>
              <a:defRPr sz="1500">
                <a:solidFill>
                  <a:srgbClr val="000000"/>
                </a:solidFill>
              </a:defRPr>
            </a:pPr>
            <a:r>
              <a:t>Separation is moderate (silhouette 0.33). The limitation is the feature set, not the algorithms.</a:t>
            </a:r>
          </a:p>
          <a:p>
            <a:pPr lvl="1">
              <a:spcAft>
                <a:spcPts val="900"/>
              </a:spcAft>
              <a:defRPr sz="1300">
                <a:solidFill>
                  <a:srgbClr val="444444"/>
                </a:solidFill>
              </a:defRPr>
            </a:pPr>
            <a:r>
              <a:t>- HTRU2 gives summary statistics of the profile and the DM-SNR curve, so frequency and timing information is already averaged away. Pulsars separate best by period and dispersion measure, and neither survives into these eight columns. Adding them is the next step.</a:t>
            </a:r>
          </a:p>
          <a:p>
            <a:pPr>
              <a:spcAft>
                <a:spcPts val="900"/>
              </a:spcAft>
              <a:defRPr sz="1500">
                <a:solidFill>
                  <a:srgbClr val="000000"/>
                </a:solidFill>
              </a:defRPr>
            </a:pPr>
            <a:r>
              <a:t>Three further caveats:</a:t>
            </a:r>
          </a:p>
          <a:p>
            <a:pPr lvl="1">
              <a:spcAft>
                <a:spcPts val="900"/>
              </a:spcAft>
              <a:defRPr sz="1300">
                <a:solidFill>
                  <a:srgbClr val="444444"/>
                </a:solidFill>
              </a:defRPr>
            </a:pPr>
            <a:r>
              <a:t>- No ground truth for the sub-types, so validation is internal only. Confirming cluster 2 as a known class needs a catalogue cross-match such as the ATNF.</a:t>
            </a:r>
          </a:p>
          <a:p>
            <a:pPr lvl="1">
              <a:spcAft>
                <a:spcPts val="900"/>
              </a:spcAft>
              <a:defRPr sz="1300">
                <a:solidFill>
                  <a:srgbClr val="444444"/>
                </a:solidFill>
              </a:defRPr>
            </a:pPr>
            <a:r>
              <a:t>- k = 3 is a judgement call. The silhouette alone would have picked k = 2.</a:t>
            </a:r>
          </a:p>
          <a:p>
            <a:pPr lvl="1">
              <a:spcAft>
                <a:spcPts val="900"/>
              </a:spcAft>
              <a:defRPr sz="1300">
                <a:solidFill>
                  <a:srgbClr val="444444"/>
                </a:solidFill>
              </a:defRPr>
            </a:pPr>
            <a:r>
              <a:t>- The SOM depends on initialisation. The seed is fixed, and the three-group structure survives reseeding, but the map shifts.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